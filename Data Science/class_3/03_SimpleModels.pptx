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7" r:id="rId2"/>
    <p:sldId id="943" r:id="rId3"/>
    <p:sldId id="946" r:id="rId4"/>
    <p:sldId id="949" r:id="rId5"/>
    <p:sldId id="950" r:id="rId6"/>
    <p:sldId id="256" r:id="rId7"/>
    <p:sldId id="94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0572247-D44C-4663-86FE-B74E797DB497}">
          <p14:sldIdLst>
            <p14:sldId id="257"/>
            <p14:sldId id="943"/>
            <p14:sldId id="946"/>
            <p14:sldId id="949"/>
            <p14:sldId id="950"/>
            <p14:sldId id="256"/>
            <p14:sldId id="9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E878"/>
    <a:srgbClr val="C9E8B2"/>
    <a:srgbClr val="B3E7C3"/>
    <a:srgbClr val="BFF7C0"/>
    <a:srgbClr val="91DBAE"/>
    <a:srgbClr val="9EA3F3"/>
    <a:srgbClr val="DE5766"/>
    <a:srgbClr val="FFEC7D"/>
    <a:srgbClr val="EBF470"/>
    <a:srgbClr val="C50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9" autoAdjust="0"/>
    <p:restoredTop sz="79041" autoAdjust="0"/>
  </p:normalViewPr>
  <p:slideViewPr>
    <p:cSldViewPr snapToGrid="0">
      <p:cViewPr varScale="1">
        <p:scale>
          <a:sx n="56" d="100"/>
          <a:sy n="56" d="100"/>
        </p:scale>
        <p:origin x="89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13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34925">
              <a:solidFill>
                <a:srgbClr val="3670A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−10</c:v>
                </c:pt>
                <c:pt idx="1">
                  <c:v>−8</c:v>
                </c:pt>
                <c:pt idx="2">
                  <c:v>−6</c:v>
                </c:pt>
                <c:pt idx="3">
                  <c:v>−4</c:v>
                </c:pt>
                <c:pt idx="4">
                  <c:v>−2</c:v>
                </c:pt>
                <c:pt idx="5">
                  <c:v>0</c:v>
                </c:pt>
                <c:pt idx="6">
                  <c:v>2</c:v>
                </c:pt>
                <c:pt idx="7">
                  <c:v>4</c:v>
                </c:pt>
                <c:pt idx="8">
                  <c:v>6</c:v>
                </c:pt>
                <c:pt idx="9">
                  <c:v>8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2</c:v>
                </c:pt>
                <c:pt idx="5">
                  <c:v>0</c:v>
                </c:pt>
                <c:pt idx="6">
                  <c:v>10</c:v>
                </c:pt>
                <c:pt idx="7">
                  <c:v>20</c:v>
                </c:pt>
                <c:pt idx="8">
                  <c:v>30</c:v>
                </c:pt>
                <c:pt idx="9">
                  <c:v>40</c:v>
                </c:pt>
                <c:pt idx="10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1-48F1-8505-EB358D865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de-DE"/>
                  <a:t>Error e = actual − prediction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de-DE"/>
                  <a:t>Loss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1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D013-47BC-41BD-A867-0D36187F8099}" type="datetimeFigureOut">
              <a:rPr lang="de-DE" smtClean="0"/>
              <a:t>30.10.2026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8C61C-AF32-4C00-A647-583E6462D5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62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8C61C-AF32-4C00-A647-583E6462D53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147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8C61C-AF32-4C00-A647-583E6462D53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32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Freedman: Often my preferred rule to teach first because students can connect it to the robust statistics they learn elsewhere. It is less sensitive to extreme observations than Scott's rule.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8C61C-AF32-4C00-A647-583E6462D53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31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FBA5A3-5FF8-4514-B6EE-57F2DCE06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24A3CE-90A4-42C3-BF60-63D506524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D0C043-9B70-42F4-83C8-E55AEA51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0F00113-F5AF-476B-8474-E7EC96628A4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Picture 30" descr="HWR_Logo_RGB">
            <a:extLst>
              <a:ext uri="{FF2B5EF4-FFF2-40B4-BE49-F238E27FC236}">
                <a16:creationId xmlns:a16="http://schemas.microsoft.com/office/drawing/2014/main" id="{581A7B23-58C2-49C4-98E1-F37D1E9DD7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083" y="384176"/>
            <a:ext cx="2219824" cy="508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13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82E3D-7CA2-4418-8C36-105BE746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521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959B6E-6E09-41BB-BF84-5F1EDB19F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887"/>
            <a:ext cx="10515600" cy="4929076"/>
          </a:xfrm>
        </p:spPr>
        <p:txBody>
          <a:bodyPr/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870A62-014E-4024-9CC1-34D2125C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0F00113-F5AF-476B-8474-E7EC96628A4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Picture 30" descr="HWR_Logo_RGB">
            <a:extLst>
              <a:ext uri="{FF2B5EF4-FFF2-40B4-BE49-F238E27FC236}">
                <a16:creationId xmlns:a16="http://schemas.microsoft.com/office/drawing/2014/main" id="{D3FF9F95-74FE-4BDF-AD4B-534BB323A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57" y="265561"/>
            <a:ext cx="1812984" cy="415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210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7AB4E3B-A4E5-4E60-AA1D-2B036CA0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80F7BD-4286-4DDD-B686-7F1B1628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07314D-01E8-4737-9CB7-01754021C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00113-F5AF-476B-8474-E7EC96628A4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152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65294-47AF-4817-B5DA-E62ABAA6E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0995" y="939701"/>
            <a:ext cx="10442132" cy="2648625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Simple Models</a:t>
            </a:r>
            <a:br>
              <a:rPr lang="de-DE" dirty="0"/>
            </a:br>
            <a:br>
              <a:rPr lang="de-DE" dirty="0"/>
            </a:br>
            <a:r>
              <a:rPr lang="de-DE" sz="4400" dirty="0"/>
              <a:t>Statistical </a:t>
            </a:r>
            <a:r>
              <a:rPr lang="de-DE" sz="4400" dirty="0" err="1"/>
              <a:t>Literacy</a:t>
            </a:r>
            <a:r>
              <a:rPr lang="de-DE" sz="4400" dirty="0"/>
              <a:t>, </a:t>
            </a:r>
            <a:r>
              <a:rPr lang="de-DE" sz="4400" dirty="0" err="1"/>
              <a:t>cont</a:t>
            </a:r>
            <a:r>
              <a:rPr lang="de-DE" sz="4400" dirty="0"/>
              <a:t>.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DCBECE-D978-4920-87BC-B26187FEC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995" y="4613565"/>
            <a:ext cx="9144000" cy="1406236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Data Science, Week 3</a:t>
            </a:r>
          </a:p>
          <a:p>
            <a:pPr algn="l"/>
            <a:endParaRPr lang="de-DE" dirty="0"/>
          </a:p>
          <a:p>
            <a:pPr algn="l"/>
            <a:endParaRPr lang="de-DE" dirty="0"/>
          </a:p>
          <a:p>
            <a:pPr algn="l"/>
            <a:endParaRPr lang="de-DE" dirty="0"/>
          </a:p>
          <a:p>
            <a:pPr algn="l"/>
            <a:endParaRPr lang="de-DE" dirty="0"/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86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6FA6C-AFDE-5FDC-3C13-0A9CE851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AC5D6C-2A7F-430B-6C2D-0662D213E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 err="1"/>
              <a:t>Stdev</a:t>
            </a:r>
            <a:r>
              <a:rPr lang="de-DE" dirty="0"/>
              <a:t> and </a:t>
            </a:r>
            <a:r>
              <a:rPr lang="de-DE" dirty="0" err="1"/>
              <a:t>Quantiles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Quantification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  <a:p>
            <a:pPr lvl="1"/>
            <a:r>
              <a:rPr lang="de-DE" dirty="0"/>
              <a:t>Sample </a:t>
            </a:r>
            <a:r>
              <a:rPr lang="de-DE" dirty="0" err="1"/>
              <a:t>versions</a:t>
            </a:r>
            <a:endParaRPr lang="de-DE" dirty="0"/>
          </a:p>
          <a:p>
            <a:pPr lvl="1"/>
            <a:r>
              <a:rPr lang="de-DE" dirty="0"/>
              <a:t>„Tails“, p-</a:t>
            </a:r>
            <a:r>
              <a:rPr lang="de-DE" dirty="0" err="1"/>
              <a:t>values</a:t>
            </a:r>
            <a:r>
              <a:rPr lang="de-DE" dirty="0"/>
              <a:t>, „</a:t>
            </a:r>
            <a:r>
              <a:rPr lang="de-DE" dirty="0" err="1"/>
              <a:t>unlikely</a:t>
            </a:r>
            <a:r>
              <a:rPr lang="de-DE" dirty="0"/>
              <a:t> </a:t>
            </a:r>
            <a:r>
              <a:rPr lang="de-DE" dirty="0" err="1"/>
              <a:t>events</a:t>
            </a:r>
            <a:r>
              <a:rPr lang="de-DE" dirty="0"/>
              <a:t>“</a:t>
            </a:r>
          </a:p>
          <a:p>
            <a:r>
              <a:rPr lang="de-DE" dirty="0"/>
              <a:t>Bias-</a:t>
            </a:r>
            <a:r>
              <a:rPr lang="de-DE" dirty="0" err="1"/>
              <a:t>Variance</a:t>
            </a:r>
            <a:r>
              <a:rPr lang="de-DE" dirty="0"/>
              <a:t> </a:t>
            </a:r>
            <a:r>
              <a:rPr lang="de-DE" dirty="0" err="1"/>
              <a:t>Tradeoff</a:t>
            </a:r>
            <a:r>
              <a:rPr lang="de-DE" dirty="0"/>
              <a:t> and Sample Sizes</a:t>
            </a:r>
          </a:p>
          <a:p>
            <a:pPr lvl="1"/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KNN </a:t>
            </a:r>
          </a:p>
          <a:p>
            <a:pPr lvl="1"/>
            <a:r>
              <a:rPr lang="de-DE" dirty="0" err="1"/>
              <a:t>Histograms</a:t>
            </a:r>
            <a:endParaRPr lang="de-DE" dirty="0"/>
          </a:p>
          <a:p>
            <a:pPr lvl="1"/>
            <a:r>
              <a:rPr lang="de-DE" dirty="0"/>
              <a:t>The Magic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Simulations</a:t>
            </a:r>
            <a:endParaRPr lang="de-DE" dirty="0"/>
          </a:p>
          <a:p>
            <a:r>
              <a:rPr lang="de-DE" dirty="0"/>
              <a:t>Binary Outcomes</a:t>
            </a:r>
          </a:p>
          <a:p>
            <a:pPr lvl="1"/>
            <a:r>
              <a:rPr lang="de-DE" dirty="0"/>
              <a:t>Titanic</a:t>
            </a:r>
          </a:p>
          <a:p>
            <a:r>
              <a:rPr lang="de-DE" dirty="0"/>
              <a:t>Loss </a:t>
            </a:r>
            <a:r>
              <a:rPr lang="de-DE" dirty="0" err="1"/>
              <a:t>Functions</a:t>
            </a:r>
            <a:r>
              <a:rPr lang="de-DE" dirty="0"/>
              <a:t>, </a:t>
            </a:r>
            <a:r>
              <a:rPr lang="de-DE" dirty="0" err="1"/>
              <a:t>cont</a:t>
            </a:r>
            <a:r>
              <a:rPr lang="de-DE" dirty="0"/>
              <a:t>.</a:t>
            </a:r>
          </a:p>
          <a:p>
            <a:pPr lvl="1"/>
            <a:endParaRPr lang="de-DE" dirty="0"/>
          </a:p>
          <a:p>
            <a:r>
              <a:rPr lang="de-DE" dirty="0" err="1"/>
              <a:t>Correlations</a:t>
            </a:r>
            <a:endParaRPr lang="de-DE" dirty="0"/>
          </a:p>
          <a:p>
            <a:pPr lvl="1"/>
            <a:r>
              <a:rPr lang="de-DE" dirty="0"/>
              <a:t>Penguins</a:t>
            </a:r>
          </a:p>
          <a:p>
            <a:r>
              <a:rPr lang="de-DE" dirty="0"/>
              <a:t>…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345981-8F15-7462-C70B-65B14108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113-F5AF-476B-8474-E7EC96628A4E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759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6D509-CE36-4D6D-FB46-8EEC0D0C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Loss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895503-53C1-1225-6B33-E8585A79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113-F5AF-476B-8474-E7EC96628A4E}" type="slidenum">
              <a:rPr lang="de-DE" smtClean="0"/>
              <a:pPr/>
              <a:t>3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A68C7A-77F6-E828-D7CA-133B66F70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697" y="1516566"/>
            <a:ext cx="7278721" cy="43378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591B066-EFB8-CAD9-A882-F5C404F04CD1}"/>
              </a:ext>
            </a:extLst>
          </p:cNvPr>
          <p:cNvSpPr txBox="1"/>
          <p:nvPr/>
        </p:nvSpPr>
        <p:spPr>
          <a:xfrm>
            <a:off x="345688" y="1706135"/>
            <a:ext cx="31892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02060"/>
                </a:solidFill>
              </a:rPr>
              <a:t>Open Questions:</a:t>
            </a:r>
          </a:p>
          <a:p>
            <a:endParaRPr lang="de-DE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dirty="0">
                <a:solidFill>
                  <a:srgbClr val="002060"/>
                </a:solidFill>
              </a:rPr>
              <a:t>Quality </a:t>
            </a:r>
            <a:r>
              <a:rPr lang="de-DE" sz="2400" b="1" dirty="0" err="1">
                <a:solidFill>
                  <a:srgbClr val="002060"/>
                </a:solidFill>
              </a:rPr>
              <a:t>Metric</a:t>
            </a:r>
            <a:endParaRPr lang="de-DE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dirty="0" err="1">
                <a:solidFill>
                  <a:srgbClr val="002060"/>
                </a:solidFill>
              </a:rPr>
              <a:t>Symmetry</a:t>
            </a:r>
            <a:endParaRPr lang="de-DE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dirty="0" err="1">
                <a:solidFill>
                  <a:srgbClr val="002060"/>
                </a:solidFill>
              </a:rPr>
              <a:t>Categorical</a:t>
            </a:r>
            <a:r>
              <a:rPr lang="de-DE" sz="2400" b="1" dirty="0">
                <a:solidFill>
                  <a:srgbClr val="002060"/>
                </a:solidFill>
              </a:rPr>
              <a:t>/Binary Outcome</a:t>
            </a:r>
          </a:p>
        </p:txBody>
      </p:sp>
    </p:spTree>
    <p:extLst>
      <p:ext uri="{BB962C8B-B14F-4D97-AF65-F5344CB8AC3E}">
        <p14:creationId xmlns:p14="http://schemas.microsoft.com/office/powerpoint/2010/main" val="206422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452"/>
                </a:solidFill>
              </a:defRPr>
            </a:pPr>
            <a:r>
              <a:t>When is one prediction error worse than the other?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</a:defRPr>
            </a:pPr>
            <a:r>
              <a:t>Asymmetric loss: the direction of the error matters.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728216"/>
            <a:ext cx="490118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E4B41"/>
                </a:solidFill>
              </a:defRPr>
            </a:pPr>
            <a:r>
              <a:rPr dirty="0"/>
              <a:t>ELECTRICITY DEMAND</a:t>
            </a:r>
          </a:p>
          <a:p>
            <a:pPr>
              <a:defRPr sz="1400">
                <a:solidFill>
                  <a:srgbClr val="263240"/>
                </a:solidFill>
              </a:defRPr>
            </a:pPr>
            <a:r>
              <a:rPr sz="1600" dirty="0"/>
              <a:t>Underpredict → demand may exceed supply, risking outages.</a:t>
            </a:r>
            <a:br>
              <a:rPr sz="1600" dirty="0"/>
            </a:br>
            <a:br>
              <a:rPr sz="1600" dirty="0"/>
            </a:br>
            <a:r>
              <a:rPr sz="1600" dirty="0"/>
              <a:t>Overpredict → spare capacity costs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9088" y="1728216"/>
            <a:ext cx="4901183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70A4"/>
                </a:solidFill>
              </a:defRPr>
            </a:pPr>
            <a:r>
              <a:rPr dirty="0"/>
              <a:t>INVENTORY</a:t>
            </a:r>
          </a:p>
          <a:p>
            <a:pPr>
              <a:defRPr sz="1400">
                <a:solidFill>
                  <a:srgbClr val="263240"/>
                </a:solidFill>
              </a:defRPr>
            </a:pPr>
            <a:r>
              <a:rPr sz="1600" dirty="0"/>
              <a:t>Underpredict → stockouts and lost sales.</a:t>
            </a:r>
            <a:br>
              <a:rPr sz="1600" dirty="0"/>
            </a:br>
            <a:br>
              <a:rPr sz="1600" dirty="0"/>
            </a:br>
            <a:r>
              <a:rPr sz="1600" dirty="0"/>
              <a:t>Overpredict → leftover stock and storage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785615"/>
            <a:ext cx="4901183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7825F"/>
                </a:solidFill>
              </a:defRPr>
            </a:pPr>
            <a:r>
              <a:rPr dirty="0"/>
              <a:t>HOSPITAL CAPACITY</a:t>
            </a:r>
          </a:p>
          <a:p>
            <a:pPr>
              <a:defRPr sz="1400">
                <a:solidFill>
                  <a:srgbClr val="263240"/>
                </a:solidFill>
              </a:defRPr>
            </a:pPr>
            <a:r>
              <a:rPr sz="1600" dirty="0"/>
              <a:t>Underpredict → too few beds or staff.</a:t>
            </a:r>
            <a:br>
              <a:rPr sz="1600" dirty="0"/>
            </a:br>
            <a:br>
              <a:rPr sz="1600" dirty="0"/>
            </a:br>
            <a:r>
              <a:rPr sz="1600" dirty="0"/>
              <a:t>Overpredict → unused capacity and extra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303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3785615"/>
            <a:ext cx="4901183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70A4"/>
                </a:solidFill>
              </a:defRPr>
            </a:pPr>
            <a:r>
              <a:rPr dirty="0"/>
              <a:t>TRAVEL TIME</a:t>
            </a:r>
          </a:p>
          <a:p>
            <a:pPr>
              <a:defRPr sz="1400">
                <a:solidFill>
                  <a:srgbClr val="263240"/>
                </a:solidFill>
              </a:defRPr>
            </a:pPr>
            <a:r>
              <a:rPr sz="1600" dirty="0"/>
              <a:t>Underpredict → missed flights or appointments.</a:t>
            </a:r>
            <a:br>
              <a:rPr sz="1600" dirty="0"/>
            </a:br>
            <a:br>
              <a:rPr sz="1600" dirty="0"/>
            </a:br>
            <a:r>
              <a:rPr sz="1600" dirty="0"/>
              <a:t>Overpredict → arriving early and waiting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881360" cy="566928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91616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2"/>
                </a:solidFill>
              </a:defRPr>
            </a:pPr>
            <a:r>
              <a:t>Example: a shortage may be much more costly than having a small surplus.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452"/>
                </a:solidFill>
              </a:defRPr>
            </a:pPr>
            <a:r>
              <a:t>Asymmetric absolute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</a:defRPr>
            </a:pPr>
            <a:r>
              <a:t>Underprediction and overprediction can have different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023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545336"/>
            <a:ext cx="362102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70A4"/>
                </a:solidFill>
              </a:defRPr>
            </a:pPr>
            <a:r>
              <a:t>DEFINE THE ERROR</a:t>
            </a:r>
          </a:p>
          <a:p>
            <a:pPr>
              <a:defRPr sz="1500">
                <a:solidFill>
                  <a:srgbClr val="263240"/>
                </a:solidFill>
              </a:defRPr>
            </a:pPr>
            <a:r>
              <a:t>e = actual − prediction</a:t>
            </a:r>
            <a:br/>
            <a:br/>
            <a:r>
              <a:t>Underpredict (e &gt; 0): loss = 5e</a:t>
            </a:r>
            <a:br/>
            <a:r>
              <a:t>Overpredict (e &lt; 0): loss = −e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4023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3785615"/>
            <a:ext cx="3621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670A4"/>
                </a:solidFill>
              </a:defRPr>
            </a:pPr>
            <a:r>
              <a:t>INTERPRETATION</a:t>
            </a:r>
          </a:p>
          <a:p>
            <a:pPr>
              <a:defRPr sz="1300">
                <a:solidFill>
                  <a:srgbClr val="263240"/>
                </a:solidFill>
              </a:defRPr>
            </a:pPr>
            <a:r>
              <a:t>Missing one unit costs €5; having one extra unit costs €1. The loss rises five times faster for underprediction.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83480" y="137160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806440"/>
            <a:ext cx="10881360" cy="566928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91616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2"/>
                </a:solidFill>
              </a:defRPr>
            </a:pPr>
            <a:r>
              <a:t>The optimal prediction depends on the relative costs of the two kinds of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infographic_slide_on_a_white_background_w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8848F7-F24F-B15D-812D-D320AFA7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D83DE6-B5DD-BDEC-C1F4-528F3EF6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A. Sturges' rule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dirty="0"/>
              <a:t>Often too conservative for large datasets or distributions with complex structure.</a:t>
            </a:r>
          </a:p>
          <a:p>
            <a:r>
              <a:rPr lang="de-DE" dirty="0"/>
              <a:t>B. </a:t>
            </a:r>
            <a:r>
              <a:rPr lang="de-DE" dirty="0" err="1"/>
              <a:t>Scott's</a:t>
            </a:r>
            <a:r>
              <a:rPr lang="de-DE" dirty="0"/>
              <a:t> </a:t>
            </a:r>
            <a:r>
              <a:rPr lang="de-DE" dirty="0" err="1"/>
              <a:t>rule</a:t>
            </a:r>
            <a:br>
              <a:rPr lang="de-DE" dirty="0"/>
            </a:br>
            <a:r>
              <a:rPr lang="de-DE" dirty="0"/>
              <a:t>	</a:t>
            </a:r>
            <a:br>
              <a:rPr lang="de-DE" dirty="0"/>
            </a:br>
            <a:r>
              <a:rPr lang="en-US" sz="2400" dirty="0"/>
              <a:t>A useful theoretical starting point under approximately normal-density assumptions.</a:t>
            </a:r>
            <a:r>
              <a:rPr lang="de-DE" sz="2400" dirty="0"/>
              <a:t> </a:t>
            </a:r>
          </a:p>
          <a:p>
            <a:r>
              <a:rPr lang="de-DE" dirty="0"/>
              <a:t>C. Freedman–</a:t>
            </a:r>
            <a:r>
              <a:rPr lang="de-DE" dirty="0" err="1"/>
              <a:t>Diaconis</a:t>
            </a:r>
            <a:r>
              <a:rPr lang="de-DE" dirty="0"/>
              <a:t> </a:t>
            </a:r>
            <a:r>
              <a:rPr lang="de-DE" dirty="0" err="1"/>
              <a:t>rule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4F7F17-BF89-83D8-7B85-7E352288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113-F5AF-476B-8474-E7EC96628A4E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A4A7990-7C03-E664-2B41-87AC318EA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595" y="1180131"/>
            <a:ext cx="3014819" cy="8052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9AC5F08-FCE5-F824-DAE3-75D115AF2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95" y="2623800"/>
            <a:ext cx="2708400" cy="8052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4D57DA9-48B0-5A92-1320-0DA252E43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005" y="4887582"/>
            <a:ext cx="2242989" cy="87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4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Breitbild</PresentationFormat>
  <Paragraphs>57</Paragraphs>
  <Slides>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Simple Models  Statistical Literacy, cont.</vt:lpstr>
      <vt:lpstr>Topics</vt:lpstr>
      <vt:lpstr>Loss Functions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Issues of IT</dc:title>
  <dc:subject/>
  <dc:creator>Sebastian</dc:creator>
  <cp:keywords/>
  <dc:description/>
  <cp:lastModifiedBy>Löcher, Markus</cp:lastModifiedBy>
  <cp:revision>451</cp:revision>
  <dcterms:created xsi:type="dcterms:W3CDTF">2020-07-04T07:03:28Z</dcterms:created>
  <dcterms:modified xsi:type="dcterms:W3CDTF">2026-10-30T11:05:13Z</dcterms:modified>
  <cp:category/>
</cp:coreProperties>
</file>